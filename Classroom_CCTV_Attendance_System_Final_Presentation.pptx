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37160" cy="3474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46304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MAJOR PROJECT PRESENTATION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AI-Powered Classroom CCTV</a:t>
            </a:r>
            <a:br/>
            <a:r>
              <a:t>Attendance Management System</a:t>
            </a:r>
          </a:p>
          <a:p>
            <a:pPr>
              <a:spcAft>
                <a:spcPts val="2200"/>
              </a:spcAft>
              <a:defRPr sz="1500">
                <a:solidFill>
                  <a:srgbClr val="F59E0B"/>
                </a:solidFill>
              </a:defRPr>
            </a:pPr>
            <a:r>
              <a:t>Deep Learning Facial Recognition • Timetable Engine • Visual Analytics • Scalable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Department: Computer Science &amp; Design (CSD)   | 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• SLIDE 2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The Current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10–15 Mins Lost: Manual roll-calls waste 20% of every 50-min lecture.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Proxy Manipulation: High buddy-punching &amp; paper register loss.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Biometric Bottlenecks: Fingerprint scanners cause crowding &amp; physical wear.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Delayed Awareness: Chronic absenteeism noticed only at semester 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39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The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100% Zero-Touch: Uses existing classroom CCTV cameras.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ArcFace 512-D Embeddings: High accuracy across multi-angle poses.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Automated Timetable Sync: Tracks Periods 1 to 7 (09:15 to 16:10).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Period-End Auto-Absent: Unseen students finalized automatically.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Instant Multi-Format Export: Print-ready PDF, Excel, and CSV.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• SLIDE 3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Frontend Architecture: UI Layout &amp; Export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50292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Web Dashboard UI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4754880" cy="731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Top Status &amp; Exam Mode Banner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System Health • HOD / Admin Role Badge • Exam 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743200"/>
            <a:ext cx="475488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3C5FD"/>
                </a:solidFill>
              </a:defRPr>
            </a:pPr>
            <a:r>
              <a:t>Live Class Countdown Card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Subject: MFCS • Period 1 (09:15-10:20) • Remaining: 24 mins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657600"/>
            <a:ext cx="4754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7947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Live CCTV Video Viewport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MJPEG Video Stream • Bounding Boxes • Student ID Tag • Reconnect Btn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212080"/>
            <a:ext cx="475488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3492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Hourly Attendance Register Table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Period • Roll No • Student Name • Dept/Sec • Time • Status (Present/Absent)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5120640" cy="50292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39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Export &amp; Reporting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1920240"/>
            <a:ext cx="45720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574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Dynamic Filter Toolbar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Academic Year • Semester • Date Range • Department • Section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78240" y="2788920"/>
            <a:ext cx="182880" cy="27432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3108960"/>
            <a:ext cx="457200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2461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Flask Export Engine (/api/reports/export)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Queries MySQL Matrix • Sanitizes Unicode • Computes % Metrics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78240" y="3977639"/>
            <a:ext cx="182880" cy="27432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0" y="4297680"/>
            <a:ext cx="141732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434840"/>
            <a:ext cx="11430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PDF Exporter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FPDF2 Engine</a:t>
            </a:r>
            <a:br/>
            <a:r>
              <a:t>Print-Ready</a:t>
            </a:r>
            <a:br/>
            <a:r>
              <a:t>Official Sheet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4297680"/>
            <a:ext cx="141732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4434840"/>
            <a:ext cx="11430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Excel (.xlsx)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OpenPyXL</a:t>
            </a:r>
            <a:br/>
            <a:r>
              <a:t>Multi-Column</a:t>
            </a:r>
            <a:br/>
            <a:r>
              <a:t>Formulas &amp;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4297680"/>
            <a:ext cx="141732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4434840"/>
            <a:ext cx="11430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CSV Stream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UTF-8 Encoded</a:t>
            </a:r>
            <a:br/>
            <a:r>
              <a:t>ERP Portal Sync</a:t>
            </a:r>
            <a:br/>
            <a:r>
              <a:t>Plain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• SLIDE 4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Backend Flow: Database Schema &amp; Streaming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50292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Relational Database Schema (MySQL 8.0)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45720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students Table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PK: student_id • name • department • section • semester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26080"/>
            <a:ext cx="457200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6324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timetable Table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academic_year • day_of_week • period_number • start/end_time • subject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931920"/>
            <a:ext cx="457200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attendance Table (Composite Unique Key)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attendance_date • period_number • student_id • status • evidence_id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5029200"/>
            <a:ext cx="457200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16636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evidence_photos Table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face_crop_blob • similarity_score • timestamp • verifiable audit proof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5212080" cy="502920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39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StreamBroadcaster Scalability 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920240"/>
            <a:ext cx="4663440" cy="822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057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Classroom CCTV / Webcam Device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Single Thread-Safe Capture • DirectShow 640x480 Feed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32520" y="2788920"/>
            <a:ext cx="182880" cy="27432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3108960"/>
            <a:ext cx="466344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246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Central Background AI Worker (1 Thread)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Runs ArcFace on FRAME_SKIP cadence • Draws Overlay</a:t>
            </a:r>
            <a:br/>
            <a:r>
              <a:t>Adaptive JPEG Compression (Quality 60 -&gt; ~13 KB/frame)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8732520" y="4160520"/>
            <a:ext cx="182880" cy="27432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4480560"/>
            <a:ext cx="141732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617720"/>
            <a:ext cx="1143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Client 1</a:t>
            </a:r>
            <a:br/>
            <a:r>
              <a:t>(HOD)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15 FPS Stream</a:t>
            </a:r>
            <a:br/>
            <a:r>
              <a:t>&lt;180 KB/s</a:t>
            </a:r>
            <a:br/>
            <a:r>
              <a:t>Zero CPU Load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0727" y="4480560"/>
            <a:ext cx="141732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4617720"/>
            <a:ext cx="1143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Client 2</a:t>
            </a:r>
            <a:br/>
            <a:r>
              <a:t>(Faculty)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15 FPS Stream</a:t>
            </a:r>
            <a:br/>
            <a:r>
              <a:t>&lt;180 KB/s</a:t>
            </a:r>
            <a:br/>
            <a:r>
              <a:t>Zero CPU Load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4480560"/>
            <a:ext cx="1417320" cy="1554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4617720"/>
            <a:ext cx="1143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Client N</a:t>
            </a:r>
            <a:br/>
            <a:r>
              <a:t>(Admin)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15 FPS Stream</a:t>
            </a:r>
            <a:br/>
            <a:r>
              <a:t>&lt;180 KB/s</a:t>
            </a:r>
            <a:br/>
            <a:r>
              <a:t>Zero CPU 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• SLIDE 5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AI &amp; Machine Learning: ArcFace 512-D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377440" cy="502920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39"/>
            <a:ext cx="2103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1. SCRFD Detection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Lightweight deep CNN face detector.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Locates 5 facial landmarks (eyes, nose, mouth).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Quality Pre-Filter: Discards blur &amp; dark crops.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Detects 15+ faces simultaneously in 1 frame.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65760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325880"/>
            <a:ext cx="2377440" cy="5029200"/>
          </a:xfrm>
          <a:prstGeom prst="roundRect">
            <a:avLst/>
          </a:prstGeom>
          <a:solidFill>
            <a:srgbClr val="06B6D4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39"/>
            <a:ext cx="2103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2. Face Alignment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Similarity Transform based on 5 landmarks.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Normalizes head tilt, yaw, and pitch.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Standardizes to 112x112 aligned face crop.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Adaptive contrast &amp; illumination correction.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365760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2377440" cy="502920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39"/>
            <a:ext cx="2103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3. ArcFace Embed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InsightFace (buffalo_s MobileFaceNet).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Additive Angular Margin Loss ($\cos(	heta + m)$).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Generates 512-D normalized embedding.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Compact intra-class, wide inter-class margin.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32520" y="365760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325880"/>
            <a:ext cx="2377440" cy="5029200"/>
          </a:xfrm>
          <a:prstGeom prst="roundRect">
            <a:avLst/>
          </a:prstGeom>
          <a:solidFill>
            <a:srgbClr val="22C55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463039"/>
            <a:ext cx="2103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4. Cosine Matching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5-Angle Student Gallery (Front, L, R, Tilts).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Cosine Distance: $D = 1 - (A \cdot B)$.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Threshold: $D \le 0.48$ (Strict Match).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Temporal Filter confirms over 3+ frames.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• SLIDE 6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Technical Flowchart: End-to-End Attendance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Step 1: Frame Ingestion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CCTV / Webcam 640x480</a:t>
            </a:r>
            <a:br/>
            <a:r>
              <a:t>DirectShow / RTSP Stream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182880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37744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08760"/>
            <a:ext cx="210312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Step 2: Face AI Extraction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SCRFD Detector + ArcFace</a:t>
            </a:r>
            <a:br/>
            <a:r>
              <a:t>Generates 512-D Vector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182880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6217920" y="1280160"/>
            <a:ext cx="2560320" cy="1280160"/>
          </a:xfrm>
          <a:prstGeom prst="diamond">
            <a:avLst/>
          </a:prstGeom>
          <a:solidFill>
            <a:srgbClr val="B4530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463039"/>
            <a:ext cx="23774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Student</a:t>
            </a:r>
            <a:br/>
            <a:r>
              <a:t>Recognized?</a:t>
            </a:r>
            <a:br/>
            <a:r>
              <a:t>(Dist &lt;= 0.48)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23960" y="182880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08760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Temporal Verification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Multi-frame confirmation</a:t>
            </a:r>
            <a:br/>
            <a:r>
              <a:t>to avoid false triggers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406640" y="2606040"/>
            <a:ext cx="182880" cy="32004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217920" y="2971800"/>
            <a:ext cx="2560320" cy="1280160"/>
          </a:xfrm>
          <a:prstGeom prst="diamond">
            <a:avLst/>
          </a:prstGeom>
          <a:solidFill>
            <a:srgbClr val="B4530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3154680"/>
            <a:ext cx="2377439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Timetable</a:t>
            </a:r>
            <a:br/>
            <a:r>
              <a:t>Active?</a:t>
            </a:r>
            <a:br/>
            <a:r>
              <a:t>(09:15–16:10)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352044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89720" y="3063240"/>
            <a:ext cx="2286000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0116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Step 3: Mark Present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Insert Attendance Record</a:t>
            </a:r>
            <a:br/>
            <a:r>
              <a:t>Save Cropped Face Evidence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7406640" y="4297680"/>
            <a:ext cx="182880" cy="320040"/>
          </a:xfrm>
          <a:prstGeom prst="down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4663440"/>
            <a:ext cx="256032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Period End Trigger</a:t>
            </a:r>
            <a:br/>
            <a:r>
              <a:t>(Scheduler Event)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Evaluates active Dept + Section</a:t>
            </a:r>
            <a:br/>
            <a:r>
              <a:t>Identifies all missing students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23960" y="5394960"/>
            <a:ext cx="320040" cy="18288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89720" y="4663440"/>
            <a:ext cx="22860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8006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Step 4: Auto-Absent</a:t>
            </a:r>
            <a:br/>
            <a:r>
              <a:t>&amp; Notifications</a:t>
            </a:r>
          </a:p>
          <a:p>
            <a:pPr algn="ctr"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t>Unseen -&gt; Mark Absent</a:t>
            </a:r>
            <a:br/>
            <a:r>
              <a:t>Dispatches Email to HOD</a:t>
            </a:r>
            <a:br/>
            <a:r>
              <a:t>Updates PDF/Excel Exports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063240"/>
            <a:ext cx="5029200" cy="3246120"/>
          </a:xfrm>
          <a:prstGeom prst="roundRect">
            <a:avLst/>
          </a:prstGeom>
          <a:solidFill>
            <a:srgbClr val="0F1E32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20040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Core Pipeline Guarantees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No Premature Absent Marking: Students stay Pending until period end.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Strict 4:10 PM Cutoff: Halts attendance outside college hours.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Break Protection: Lunch (13:00–13:40) strictly blocks attendance.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 Duplicates: Composite MySQL keys guarantee idempotency.</a:t>
            </a:r>
          </a:p>
          <a:p>
            <a:pPr algn="l"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Verifiable Evidence: Every present record has high-res face crop proof.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• SLIDE 7</a:t>
            </a:r>
          </a:p>
          <a:p>
            <a:pPr>
              <a:defRPr sz="2100" b="1">
                <a:solidFill>
                  <a:srgbClr val="F8FAFC"/>
                </a:solidFill>
              </a:defRPr>
            </a:pPr>
            <a:r>
              <a:t>Feasibility &amp; Viability: Comprehensive Comparative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295"/>
                <a:gridCol w="2743200"/>
                <a:gridCol w="2743200"/>
                <a:gridCol w="3108960"/>
              </a:tblGrid>
              <a:tr h="70539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Manual Roll-Call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Fingerprint / RFID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Our AI CCTV System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Time Consumption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10–15 mins / lecture hour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5–8 mins (entry queues)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0.00 Seconds (Zero-Touch)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Proxy / Spoofing Risk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Very High (Buddy calling)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Medium (RFID sharing)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Zero Risk (Facial Biometric)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Hardware / Infra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recurring time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scanner installation cost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Low (Uses Existing CCTV Infra)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Contact &amp; Hygiene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Paper register circulation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Physical touch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100% Contactless &amp; Automated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Audit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Manual paper signatures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Timestamp log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Verifiable CCTV Photo Snapshot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Analytics &amp; Reporting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Manual clerical entry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Terminal sync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9E0B"/>
                          </a:solidFill>
                        </a:defRPr>
                      </a:pPr>
                      <a:r>
                        <a:t>Instant PDF, Excel &amp; CSV Export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