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97280" y="1645920"/>
            <a:ext cx="137160" cy="3474720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463040" y="1554480"/>
            <a:ext cx="960120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300" b="1">
                <a:solidFill>
                  <a:srgbClr val="38BDF8"/>
                </a:solidFill>
              </a:defRPr>
            </a:pPr>
            <a:r>
              <a:t>MAJOR PROJECT PRESENTATION</a:t>
            </a:r>
          </a:p>
          <a:p>
            <a:pPr>
              <a:spcAft>
                <a:spcPts val="1600"/>
              </a:spcAft>
              <a:defRPr sz="3600" b="1">
                <a:solidFill>
                  <a:srgbClr val="F8FAFC"/>
                </a:solidFill>
              </a:defRPr>
            </a:pPr>
            <a:r>
              <a:t>AI Classroom CCTV</a:t>
            </a:r>
            <a:br/>
            <a:r>
              <a:t>Attendance System</a:t>
            </a:r>
          </a:p>
          <a:p>
            <a:pPr>
              <a:spcAft>
                <a:spcPts val="2000"/>
              </a:spcAft>
              <a:defRPr sz="1500">
                <a:solidFill>
                  <a:srgbClr val="FBBF24"/>
                </a:solidFill>
              </a:defRPr>
            </a:pPr>
            <a:r>
              <a:t>Deep Learning Facial Recognition  •  Automated Timetable  •  Real-Time Analytics</a:t>
            </a:r>
          </a:p>
          <a:p>
            <a:pPr>
              <a:defRPr sz="1200">
                <a:solidFill>
                  <a:srgbClr val="94A3B8"/>
                </a:solidFill>
              </a:defRPr>
            </a:pPr>
            <a:r>
              <a:t>Dept: Computer Science &amp; Design (CSD)   |   Academic Year: 2026–27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09728"/>
            <a:ext cx="106984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BBF24"/>
                </a:solidFill>
              </a:defRPr>
            </a:pPr>
            <a:r>
              <a:t>1. INTRODUCTION</a:t>
            </a:r>
          </a:p>
          <a:p>
            <a:pPr>
              <a:defRPr sz="2200" b="1">
                <a:solidFill>
                  <a:srgbClr val="F8FAFC"/>
                </a:solidFill>
              </a:defRPr>
            </a:pPr>
            <a:r>
              <a:t>Problem Statement &amp; Project Objectives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280160"/>
            <a:ext cx="5120640" cy="50292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508760"/>
            <a:ext cx="45720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700" b="1">
                <a:solidFill>
                  <a:srgbClr val="38BDF8"/>
                </a:solidFill>
              </a:defRPr>
            </a:pPr>
            <a:r>
              <a:t>The Problem</a:t>
            </a:r>
          </a:p>
          <a:p>
            <a:pPr>
              <a:spcAft>
                <a:spcPts val="1000"/>
              </a:spcAft>
              <a:defRPr sz="1300">
                <a:solidFill>
                  <a:srgbClr val="F8FAFC"/>
                </a:solidFill>
              </a:defRPr>
            </a:pPr>
            <a:r>
              <a:t>• 10–15 Minutes Wasted: Manual roll-calls cut teaching time every lecture hour.</a:t>
            </a:r>
          </a:p>
          <a:p>
            <a:pPr>
              <a:spcAft>
                <a:spcPts val="1000"/>
              </a:spcAft>
              <a:defRPr sz="1300">
                <a:solidFill>
                  <a:srgbClr val="F8FAFC"/>
                </a:solidFill>
              </a:defRPr>
            </a:pPr>
            <a:r>
              <a:t>• Proxy Attendance: Easy to manipulate paper registers and buddy-punch.</a:t>
            </a:r>
          </a:p>
          <a:p>
            <a:pPr>
              <a:spcAft>
                <a:spcPts val="1000"/>
              </a:spcAft>
              <a:defRPr sz="1300">
                <a:solidFill>
                  <a:srgbClr val="F8FAFC"/>
                </a:solidFill>
              </a:defRPr>
            </a:pPr>
            <a:r>
              <a:t>• Biometric Delays: Fingerprint queues cause entry bottlenecks.</a:t>
            </a:r>
          </a:p>
          <a:p>
            <a:pPr>
              <a:spcAft>
                <a:spcPts val="1000"/>
              </a:spcAft>
              <a:defRPr sz="1300">
                <a:solidFill>
                  <a:srgbClr val="F8FAFC"/>
                </a:solidFill>
              </a:defRPr>
            </a:pPr>
            <a:r>
              <a:t>• No Real-time Alerts: Absenteeism noticed only at semester end.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280160"/>
            <a:ext cx="5120640" cy="50292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92240" y="1508760"/>
            <a:ext cx="45720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700" b="1">
                <a:solidFill>
                  <a:srgbClr val="FBBF24"/>
                </a:solidFill>
              </a:defRPr>
            </a:pPr>
            <a:r>
              <a:t>Our Solution</a:t>
            </a:r>
          </a:p>
          <a:p>
            <a:pPr>
              <a:spcAft>
                <a:spcPts val="1000"/>
              </a:spcAft>
              <a:defRPr sz="1300">
                <a:solidFill>
                  <a:srgbClr val="F8FAFC"/>
                </a:solidFill>
              </a:defRPr>
            </a:pPr>
            <a:r>
              <a:t>• 100% Zero-Touch: Uses existing classroom CCTV cameras.</a:t>
            </a:r>
          </a:p>
          <a:p>
            <a:pPr>
              <a:spcAft>
                <a:spcPts val="1000"/>
              </a:spcAft>
              <a:defRPr sz="1300">
                <a:solidFill>
                  <a:srgbClr val="F8FAFC"/>
                </a:solidFill>
              </a:defRPr>
            </a:pPr>
            <a:r>
              <a:t>• ArcFace Deep Learning: 512-D facial embeddings for high accuracy.</a:t>
            </a:r>
          </a:p>
          <a:p>
            <a:pPr>
              <a:spcAft>
                <a:spcPts val="1000"/>
              </a:spcAft>
              <a:defRPr sz="1300">
                <a:solidFill>
                  <a:srgbClr val="F8FAFC"/>
                </a:solidFill>
              </a:defRPr>
            </a:pPr>
            <a:r>
              <a:t>• Hourly Timetable Sync: Automatically tracks Periods 1 to 7.</a:t>
            </a:r>
          </a:p>
          <a:p>
            <a:pPr>
              <a:spcAft>
                <a:spcPts val="1000"/>
              </a:spcAft>
              <a:defRPr sz="1300">
                <a:solidFill>
                  <a:srgbClr val="F8FAFC"/>
                </a:solidFill>
              </a:defRPr>
            </a:pPr>
            <a:r>
              <a:t>• Auto-Absent Marking: Unseen students marked Absent at period-end.</a:t>
            </a:r>
          </a:p>
          <a:p>
            <a:pPr>
              <a:spcAft>
                <a:spcPts val="1000"/>
              </a:spcAft>
              <a:defRPr sz="1300">
                <a:solidFill>
                  <a:srgbClr val="F8FAFC"/>
                </a:solidFill>
              </a:defRPr>
            </a:pPr>
            <a:r>
              <a:t>• Instant Reports: One-click export to PDF, Excel, and CSV.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09728"/>
            <a:ext cx="106984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BBF24"/>
                </a:solidFill>
              </a:defRPr>
            </a:pPr>
            <a:r>
              <a:t>2. ARCHITECTURE</a:t>
            </a:r>
          </a:p>
          <a:p>
            <a:pPr>
              <a:defRPr sz="2200" b="1">
                <a:solidFill>
                  <a:srgbClr val="F8FAFC"/>
                </a:solidFill>
              </a:defRPr>
            </a:pPr>
            <a:r>
              <a:t>System Architecture &amp; 3-Tier Workflow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280160"/>
            <a:ext cx="3291840" cy="50292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508760"/>
            <a:ext cx="2743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700" b="1">
                <a:solidFill>
                  <a:srgbClr val="60A5FA"/>
                </a:solidFill>
              </a:defRPr>
            </a:pPr>
            <a:r>
              <a:t>1. Video Capture</a:t>
            </a:r>
          </a:p>
          <a:p>
            <a:pPr>
              <a:spcAft>
                <a:spcPts val="1000"/>
              </a:spcAft>
              <a:defRPr sz="1300">
                <a:solidFill>
                  <a:srgbClr val="F8FAFC"/>
                </a:solidFill>
              </a:defRPr>
            </a:pPr>
            <a:r>
              <a:t>• RTSP IP Cameras &amp; Webcams</a:t>
            </a:r>
          </a:p>
          <a:p>
            <a:pPr>
              <a:spcAft>
                <a:spcPts val="1000"/>
              </a:spcAft>
              <a:defRPr sz="1300">
                <a:solidFill>
                  <a:srgbClr val="F8FAFC"/>
                </a:solidFill>
              </a:defRPr>
            </a:pPr>
            <a:r>
              <a:t>• DirectShow Zero-Latency Ingestion</a:t>
            </a:r>
          </a:p>
          <a:p>
            <a:pPr>
              <a:spcAft>
                <a:spcPts val="1000"/>
              </a:spcAft>
              <a:defRPr sz="1300">
                <a:solidFill>
                  <a:srgbClr val="F8FAFC"/>
                </a:solidFill>
              </a:defRPr>
            </a:pPr>
            <a:r>
              <a:t>• Centralized StreamBroadcaster</a:t>
            </a:r>
          </a:p>
          <a:p>
            <a:pPr>
              <a:spcAft>
                <a:spcPts val="1000"/>
              </a:spcAft>
              <a:defRPr sz="1300">
                <a:solidFill>
                  <a:srgbClr val="F8FAFC"/>
                </a:solidFill>
              </a:defRPr>
            </a:pPr>
            <a:r>
              <a:t>• Auto-fallback on disconnect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0" y="1280160"/>
            <a:ext cx="3291840" cy="50292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663440" y="1508760"/>
            <a:ext cx="2743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700" b="1">
                <a:solidFill>
                  <a:srgbClr val="38BDF8"/>
                </a:solidFill>
              </a:defRPr>
            </a:pPr>
            <a:r>
              <a:t>2. AI Recognition</a:t>
            </a:r>
          </a:p>
          <a:p>
            <a:pPr>
              <a:spcAft>
                <a:spcPts val="1000"/>
              </a:spcAft>
              <a:defRPr sz="1300">
                <a:solidFill>
                  <a:srgbClr val="F8FAFC"/>
                </a:solidFill>
              </a:defRPr>
            </a:pPr>
            <a:r>
              <a:t>• SCRFD Face Detection</a:t>
            </a:r>
          </a:p>
          <a:p>
            <a:pPr>
              <a:spcAft>
                <a:spcPts val="1000"/>
              </a:spcAft>
              <a:defRPr sz="1300">
                <a:solidFill>
                  <a:srgbClr val="F8FAFC"/>
                </a:solidFill>
              </a:defRPr>
            </a:pPr>
            <a:r>
              <a:t>• InsightFace ArcFace (512-D)</a:t>
            </a:r>
          </a:p>
          <a:p>
            <a:pPr>
              <a:spcAft>
                <a:spcPts val="1000"/>
              </a:spcAft>
              <a:defRPr sz="1300">
                <a:solidFill>
                  <a:srgbClr val="F8FAFC"/>
                </a:solidFill>
              </a:defRPr>
            </a:pPr>
            <a:r>
              <a:t>• Cosine Distance Matching (&lt;= 0.48)</a:t>
            </a:r>
          </a:p>
          <a:p>
            <a:pPr>
              <a:spcAft>
                <a:spcPts val="1000"/>
              </a:spcAft>
              <a:defRPr sz="1300">
                <a:solidFill>
                  <a:srgbClr val="F8FAFC"/>
                </a:solidFill>
              </a:defRPr>
            </a:pPr>
            <a:r>
              <a:t>• Multi-Angle Verification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46720" y="1280160"/>
            <a:ext cx="3291840" cy="50292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321040" y="1508760"/>
            <a:ext cx="2743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700" b="1">
                <a:solidFill>
                  <a:srgbClr val="FBBF24"/>
                </a:solidFill>
              </a:defRPr>
            </a:pPr>
            <a:r>
              <a:t>3. Timetable &amp; DB</a:t>
            </a:r>
          </a:p>
          <a:p>
            <a:pPr>
              <a:spcAft>
                <a:spcPts val="1000"/>
              </a:spcAft>
              <a:defRPr sz="1300">
                <a:solidFill>
                  <a:srgbClr val="F8FAFC"/>
                </a:solidFill>
              </a:defRPr>
            </a:pPr>
            <a:r>
              <a:t>• MySQL 8.0 Relational DB</a:t>
            </a:r>
          </a:p>
          <a:p>
            <a:pPr>
              <a:spcAft>
                <a:spcPts val="1000"/>
              </a:spcAft>
              <a:defRPr sz="1300">
                <a:solidFill>
                  <a:srgbClr val="F8FAFC"/>
                </a:solidFill>
              </a:defRPr>
            </a:pPr>
            <a:r>
              <a:t>• Period-End Absent Automation</a:t>
            </a:r>
          </a:p>
          <a:p>
            <a:pPr>
              <a:spcAft>
                <a:spcPts val="1000"/>
              </a:spcAft>
              <a:defRPr sz="1300">
                <a:solidFill>
                  <a:srgbClr val="F8FAFC"/>
                </a:solidFill>
              </a:defRPr>
            </a:pPr>
            <a:r>
              <a:t>• Visual Face Evidence Storage</a:t>
            </a:r>
          </a:p>
          <a:p>
            <a:pPr>
              <a:spcAft>
                <a:spcPts val="1000"/>
              </a:spcAft>
              <a:defRPr sz="1300">
                <a:solidFill>
                  <a:srgbClr val="F8FAFC"/>
                </a:solidFill>
              </a:defRPr>
            </a:pPr>
            <a:r>
              <a:t>• Flask Dashboard &amp; REST APIs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09728"/>
            <a:ext cx="106984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BBF24"/>
                </a:solidFill>
              </a:defRPr>
            </a:pPr>
            <a:r>
              <a:t>3. AI MODEL</a:t>
            </a:r>
          </a:p>
          <a:p>
            <a:pPr>
              <a:defRPr sz="2200" b="1">
                <a:solidFill>
                  <a:srgbClr val="F8FAFC"/>
                </a:solidFill>
              </a:defRPr>
            </a:pPr>
            <a:r>
              <a:t>Face Recognition Pipeline (ArcFace)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280160"/>
            <a:ext cx="5120640" cy="50292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508760"/>
            <a:ext cx="45720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700" b="1">
                <a:solidFill>
                  <a:srgbClr val="38BDF8"/>
                </a:solidFill>
              </a:defRPr>
            </a:pPr>
            <a:r>
              <a:t>ArcFace Deep Feature Engine</a:t>
            </a:r>
          </a:p>
          <a:p>
            <a:pPr>
              <a:spcAft>
                <a:spcPts val="1000"/>
              </a:spcAft>
              <a:defRPr sz="1300">
                <a:solidFill>
                  <a:srgbClr val="F8FAFC"/>
                </a:solidFill>
              </a:defRPr>
            </a:pPr>
            <a:r>
              <a:t>• InsightFace (buffalo_s): Additive Angular Margin loss.</a:t>
            </a:r>
          </a:p>
          <a:p>
            <a:pPr>
              <a:spcAft>
                <a:spcPts val="1000"/>
              </a:spcAft>
              <a:defRPr sz="1300">
                <a:solidFill>
                  <a:srgbClr val="F8FAFC"/>
                </a:solidFill>
              </a:defRPr>
            </a:pPr>
            <a:r>
              <a:t>• 512-Dimensional Vector: Normalized facial embeddings.</a:t>
            </a:r>
          </a:p>
          <a:p>
            <a:pPr>
              <a:spcAft>
                <a:spcPts val="1000"/>
              </a:spcAft>
              <a:defRPr sz="1300">
                <a:solidFill>
                  <a:srgbClr val="F8FAFC"/>
                </a:solidFill>
              </a:defRPr>
            </a:pPr>
            <a:r>
              <a:t>• Cosine Similarity: Strict distance threshold &lt;= 0.48.</a:t>
            </a:r>
          </a:p>
          <a:p>
            <a:pPr>
              <a:spcAft>
                <a:spcPts val="1000"/>
              </a:spcAft>
              <a:defRPr sz="1300">
                <a:solidFill>
                  <a:srgbClr val="F8FAFC"/>
                </a:solidFill>
              </a:defRPr>
            </a:pPr>
            <a:r>
              <a:t>• Multi-Angle Gallery: 5 angles (Front, Left, Right, Tilt Up, Tilt Down).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280160"/>
            <a:ext cx="5120640" cy="50292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92240" y="1508760"/>
            <a:ext cx="45720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700" b="1">
                <a:solidFill>
                  <a:srgbClr val="60A5FA"/>
                </a:solidFill>
              </a:defRPr>
            </a:pPr>
            <a:r>
              <a:t>Classroom Pose Robustness</a:t>
            </a:r>
          </a:p>
          <a:p>
            <a:pPr>
              <a:spcAft>
                <a:spcPts val="1000"/>
              </a:spcAft>
              <a:defRPr sz="1300">
                <a:solidFill>
                  <a:srgbClr val="F8FAFC"/>
                </a:solidFill>
              </a:defRPr>
            </a:pPr>
            <a:r>
              <a:t>• Multi-Face Detection: 15+ faces tracked in single frame.</a:t>
            </a:r>
          </a:p>
          <a:p>
            <a:pPr>
              <a:spcAft>
                <a:spcPts val="1000"/>
              </a:spcAft>
              <a:defRPr sz="1300">
                <a:solidFill>
                  <a:srgbClr val="F8FAFC"/>
                </a:solidFill>
              </a:defRPr>
            </a:pPr>
            <a:r>
              <a:t>• Temporal Filter: Prevents false triggers from blinks/glitches.</a:t>
            </a:r>
          </a:p>
          <a:p>
            <a:pPr>
              <a:spcAft>
                <a:spcPts val="1000"/>
              </a:spcAft>
              <a:defRPr sz="1300">
                <a:solidFill>
                  <a:srgbClr val="F8FAFC"/>
                </a:solidFill>
              </a:defRPr>
            </a:pPr>
            <a:r>
              <a:t>• Low-Light Handling: Works in dim classroom lighting.</a:t>
            </a:r>
          </a:p>
          <a:p>
            <a:pPr>
              <a:spcAft>
                <a:spcPts val="1000"/>
              </a:spcAft>
              <a:defRPr sz="1300">
                <a:solidFill>
                  <a:srgbClr val="F8FAFC"/>
                </a:solidFill>
              </a:defRPr>
            </a:pPr>
            <a:r>
              <a:t>• Quality Gate: Auto-discards blurry or extreme angled crops.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09728"/>
            <a:ext cx="106984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BBF24"/>
                </a:solidFill>
              </a:defRPr>
            </a:pPr>
            <a:r>
              <a:t>4. ATTENDANCE LOGIC</a:t>
            </a:r>
          </a:p>
          <a:p>
            <a:pPr>
              <a:defRPr sz="2200" b="1">
                <a:solidFill>
                  <a:srgbClr val="F8FAFC"/>
                </a:solidFill>
              </a:defRPr>
            </a:pPr>
            <a:r>
              <a:t>Timetable Engine &amp; Auto-Absent Logic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280160"/>
            <a:ext cx="5120640" cy="50292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508760"/>
            <a:ext cx="45720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700" b="1">
                <a:solidFill>
                  <a:srgbClr val="FBBF24"/>
                </a:solidFill>
              </a:defRPr>
            </a:pPr>
            <a:r>
              <a:t>College Timetable Sync</a:t>
            </a:r>
          </a:p>
          <a:p>
            <a:pPr>
              <a:spcAft>
                <a:spcPts val="1000"/>
              </a:spcAft>
              <a:defRPr sz="1300">
                <a:solidFill>
                  <a:srgbClr val="F8FAFC"/>
                </a:solidFill>
              </a:defRPr>
            </a:pPr>
            <a:r>
              <a:t>• Periods 1 to 7: 09:15 AM to 04:10 PM full schedule.</a:t>
            </a:r>
          </a:p>
          <a:p>
            <a:pPr>
              <a:spcAft>
                <a:spcPts val="1000"/>
              </a:spcAft>
              <a:defRPr sz="1300">
                <a:solidFill>
                  <a:srgbClr val="F8FAFC"/>
                </a:solidFill>
              </a:defRPr>
            </a:pPr>
            <a:r>
              <a:t>• Day &amp; Slot Evaluator: Maps active subject, section &amp; faculty.</a:t>
            </a:r>
          </a:p>
          <a:p>
            <a:pPr>
              <a:spcAft>
                <a:spcPts val="1000"/>
              </a:spcAft>
              <a:defRPr sz="1300">
                <a:solidFill>
                  <a:srgbClr val="F8FAFC"/>
                </a:solidFill>
              </a:defRPr>
            </a:pPr>
            <a:r>
              <a:t>• Lunch Break Protection: 13:00–13:40 blocks attendance.</a:t>
            </a:r>
          </a:p>
          <a:p>
            <a:pPr>
              <a:spcAft>
                <a:spcPts val="1000"/>
              </a:spcAft>
              <a:defRPr sz="1300">
                <a:solidFill>
                  <a:srgbClr val="F8FAFC"/>
                </a:solidFill>
              </a:defRPr>
            </a:pPr>
            <a:r>
              <a:t>• Strict 4:10 PM Cutoff: Halts attendance after college hours.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280160"/>
            <a:ext cx="5120640" cy="50292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92240" y="1508760"/>
            <a:ext cx="45720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700" b="1">
                <a:solidFill>
                  <a:srgbClr val="38BDF8"/>
                </a:solidFill>
              </a:defRPr>
            </a:pPr>
            <a:r>
              <a:t>Period-End Finalization</a:t>
            </a:r>
          </a:p>
          <a:p>
            <a:pPr>
              <a:spcAft>
                <a:spcPts val="1000"/>
              </a:spcAft>
              <a:defRPr sz="1300">
                <a:solidFill>
                  <a:srgbClr val="F8FAFC"/>
                </a:solidFill>
              </a:defRPr>
            </a:pPr>
            <a:r>
              <a:t>• During Class: Recognized students marked 'Present'.</a:t>
            </a:r>
          </a:p>
          <a:p>
            <a:pPr>
              <a:spcAft>
                <a:spcPts val="1000"/>
              </a:spcAft>
              <a:defRPr sz="1300">
                <a:solidFill>
                  <a:srgbClr val="F8FAFC"/>
                </a:solidFill>
              </a:defRPr>
            </a:pPr>
            <a:r>
              <a:t>• Pending Status: Students are NOT marked absent mid-class.</a:t>
            </a:r>
          </a:p>
          <a:p>
            <a:pPr>
              <a:spcAft>
                <a:spcPts val="1000"/>
              </a:spcAft>
              <a:defRPr sz="1300">
                <a:solidFill>
                  <a:srgbClr val="F8FAFC"/>
                </a:solidFill>
              </a:defRPr>
            </a:pPr>
            <a:r>
              <a:t>• At Period End Time: Background scheduler evaluates class list.</a:t>
            </a:r>
          </a:p>
          <a:p>
            <a:pPr>
              <a:spcAft>
                <a:spcPts val="1000"/>
              </a:spcAft>
              <a:defRPr sz="1300">
                <a:solidFill>
                  <a:srgbClr val="F8FAFC"/>
                </a:solidFill>
              </a:defRPr>
            </a:pPr>
            <a:r>
              <a:t>• Auto-Absent: Unrecognized students marked 'Absent' automatically.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09728"/>
            <a:ext cx="106984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BBF24"/>
                </a:solidFill>
              </a:defRPr>
            </a:pPr>
            <a:r>
              <a:t>5. PERFORMANCE</a:t>
            </a:r>
          </a:p>
          <a:p>
            <a:pPr>
              <a:defRPr sz="2200" b="1">
                <a:solidFill>
                  <a:srgbClr val="F8FAFC"/>
                </a:solidFill>
              </a:defRPr>
            </a:pPr>
            <a:r>
              <a:t>Scalability &amp; Low-Bandwidth Streaming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280160"/>
            <a:ext cx="5120640" cy="50292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508760"/>
            <a:ext cx="45720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700" b="1">
                <a:solidFill>
                  <a:srgbClr val="60A5FA"/>
                </a:solidFill>
              </a:defRPr>
            </a:pPr>
            <a:r>
              <a:t>StreamBroadcaster Hub</a:t>
            </a:r>
          </a:p>
          <a:p>
            <a:pPr>
              <a:spcAft>
                <a:spcPts val="1000"/>
              </a:spcAft>
              <a:defRPr sz="1300">
                <a:solidFill>
                  <a:srgbClr val="F8FAFC"/>
                </a:solidFill>
              </a:defRPr>
            </a:pPr>
            <a:r>
              <a:t>• Single AI Loop: AI runs ONCE per camera in background.</a:t>
            </a:r>
          </a:p>
          <a:p>
            <a:pPr>
              <a:spcAft>
                <a:spcPts val="1000"/>
              </a:spcAft>
              <a:defRPr sz="1300">
                <a:solidFill>
                  <a:srgbClr val="F8FAFC"/>
                </a:solidFill>
              </a:defRPr>
            </a:pPr>
            <a:r>
              <a:t>• Zero CPU Multiplier: 1 or 50 dashboard viewers use same CPU.</a:t>
            </a:r>
          </a:p>
          <a:p>
            <a:pPr>
              <a:spcAft>
                <a:spcPts val="1000"/>
              </a:spcAft>
              <a:defRPr sz="1300">
                <a:solidFill>
                  <a:srgbClr val="F8FAFC"/>
                </a:solidFill>
              </a:defRPr>
            </a:pPr>
            <a:r>
              <a:t>• Thread-Safe Locks: Eliminates hardware camera conflicts.</a:t>
            </a:r>
          </a:p>
          <a:p>
            <a:pPr>
              <a:spcAft>
                <a:spcPts val="1000"/>
              </a:spcAft>
              <a:defRPr sz="1300">
                <a:solidFill>
                  <a:srgbClr val="F8FAFC"/>
                </a:solidFill>
              </a:defRPr>
            </a:pPr>
            <a:r>
              <a:t>• Instant Startup: Video plays immediately; AI loads in background.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280160"/>
            <a:ext cx="5120640" cy="50292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92240" y="1508760"/>
            <a:ext cx="45720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700" b="1">
                <a:solidFill>
                  <a:srgbClr val="FBBF24"/>
                </a:solidFill>
              </a:defRPr>
            </a:pPr>
            <a:r>
              <a:t>Low-Bandwidth Optimization</a:t>
            </a:r>
          </a:p>
          <a:p>
            <a:pPr>
              <a:spcAft>
                <a:spcPts val="1000"/>
              </a:spcAft>
              <a:defRPr sz="1300">
                <a:solidFill>
                  <a:srgbClr val="F8FAFC"/>
                </a:solidFill>
              </a:defRPr>
            </a:pPr>
            <a:r>
              <a:t>• 70% Smaller Frames: Compressed to ~13 KB per frame.</a:t>
            </a:r>
          </a:p>
          <a:p>
            <a:pPr>
              <a:spcAft>
                <a:spcPts val="1000"/>
              </a:spcAft>
              <a:defRPr sz="1300">
                <a:solidFill>
                  <a:srgbClr val="F8FAFC"/>
                </a:solidFill>
              </a:defRPr>
            </a:pPr>
            <a:r>
              <a:t>• 15 FPS Pacing: Uses &lt; 180 KB/s (~1.5 Mbps) bandwidth.</a:t>
            </a:r>
          </a:p>
          <a:p>
            <a:pPr>
              <a:spcAft>
                <a:spcPts val="1000"/>
              </a:spcAft>
              <a:defRPr sz="1300">
                <a:solidFill>
                  <a:srgbClr val="F8FAFC"/>
                </a:solidFill>
              </a:defRPr>
            </a:pPr>
            <a:r>
              <a:t>• Works on Weak WiFi: Smooth streaming over 3G / mobile hotspot.</a:t>
            </a:r>
          </a:p>
          <a:p>
            <a:pPr>
              <a:spcAft>
                <a:spcPts val="1000"/>
              </a:spcAft>
              <a:defRPr sz="1300">
                <a:solidFill>
                  <a:srgbClr val="F8FAFC"/>
                </a:solidFill>
              </a:defRPr>
            </a:pPr>
            <a:r>
              <a:t>• Auto-Drop Lag: Slow clients skip stale frames without video freeze.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09728"/>
            <a:ext cx="106984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BBF24"/>
                </a:solidFill>
              </a:defRPr>
            </a:pPr>
            <a:r>
              <a:t>6. DATABASE &amp; AUDIT</a:t>
            </a:r>
          </a:p>
          <a:p>
            <a:pPr>
              <a:defRPr sz="2200" b="1">
                <a:solidFill>
                  <a:srgbClr val="F8FAFC"/>
                </a:solidFill>
              </a:defRPr>
            </a:pPr>
            <a:r>
              <a:t>Database Design &amp; Visual Audit Trail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280160"/>
            <a:ext cx="5120640" cy="50292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508760"/>
            <a:ext cx="45720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700" b="1">
                <a:solidFill>
                  <a:srgbClr val="38BDF8"/>
                </a:solidFill>
              </a:defRPr>
            </a:pPr>
            <a:r>
              <a:t>Relational Schema (MySQL 8.0)</a:t>
            </a:r>
          </a:p>
          <a:p>
            <a:pPr>
              <a:spcAft>
                <a:spcPts val="1000"/>
              </a:spcAft>
              <a:defRPr sz="1300">
                <a:solidFill>
                  <a:srgbClr val="F8FAFC"/>
                </a:solidFill>
              </a:defRPr>
            </a:pPr>
            <a:r>
              <a:t>• students: Roll number, name, department, section.</a:t>
            </a:r>
          </a:p>
          <a:p>
            <a:pPr>
              <a:spcAft>
                <a:spcPts val="1000"/>
              </a:spcAft>
              <a:defRPr sz="1300">
                <a:solidFill>
                  <a:srgbClr val="F8FAFC"/>
                </a:solidFill>
              </a:defRPr>
            </a:pPr>
            <a:r>
              <a:t>• timetable: Daily periods, subjects, start &amp; end times.</a:t>
            </a:r>
          </a:p>
          <a:p>
            <a:pPr>
              <a:spcAft>
                <a:spcPts val="1000"/>
              </a:spcAft>
              <a:defRPr sz="1300">
                <a:solidFill>
                  <a:srgbClr val="F8FAFC"/>
                </a:solidFill>
              </a:defRPr>
            </a:pPr>
            <a:r>
              <a:t>• attendance: Date, period, student ID, status (Present/Absent).</a:t>
            </a:r>
          </a:p>
          <a:p>
            <a:pPr>
              <a:spcAft>
                <a:spcPts val="1000"/>
              </a:spcAft>
              <a:defRPr sz="1300">
                <a:solidFill>
                  <a:srgbClr val="F8FAFC"/>
                </a:solidFill>
              </a:defRPr>
            </a:pPr>
            <a:r>
              <a:t>• Composite Keys: 0% duplicate attendance records.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280160"/>
            <a:ext cx="5120640" cy="50292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92240" y="1508760"/>
            <a:ext cx="45720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700" b="1">
                <a:solidFill>
                  <a:srgbClr val="60A5FA"/>
                </a:solidFill>
              </a:defRPr>
            </a:pPr>
            <a:r>
              <a:t>Visual Evidence &amp; Security</a:t>
            </a:r>
          </a:p>
          <a:p>
            <a:pPr>
              <a:spcAft>
                <a:spcPts val="1000"/>
              </a:spcAft>
              <a:defRPr sz="1300">
                <a:solidFill>
                  <a:srgbClr val="F8FAFC"/>
                </a:solidFill>
              </a:defRPr>
            </a:pPr>
            <a:r>
              <a:t>• CCTV Face Evidence: Cropped face snapshot stored per attendance.</a:t>
            </a:r>
          </a:p>
          <a:p>
            <a:pPr>
              <a:spcAft>
                <a:spcPts val="1000"/>
              </a:spcAft>
              <a:defRPr sz="1300">
                <a:solidFill>
                  <a:srgbClr val="F8FAFC"/>
                </a:solidFill>
              </a:defRPr>
            </a:pPr>
            <a:r>
              <a:t>• Verifiable Audit: Faculty/HOD can verify image proof anytime.</a:t>
            </a:r>
          </a:p>
          <a:p>
            <a:pPr>
              <a:spcAft>
                <a:spcPts val="1000"/>
              </a:spcAft>
              <a:defRPr sz="1300">
                <a:solidFill>
                  <a:srgbClr val="F8FAFC"/>
                </a:solidFill>
              </a:defRPr>
            </a:pPr>
            <a:r>
              <a:t>• Role-Based Access: Department isolation for HODs and Admin.</a:t>
            </a:r>
          </a:p>
          <a:p>
            <a:pPr>
              <a:spcAft>
                <a:spcPts val="1000"/>
              </a:spcAft>
              <a:defRPr sz="1300">
                <a:solidFill>
                  <a:srgbClr val="F8FAFC"/>
                </a:solidFill>
              </a:defRPr>
            </a:pPr>
            <a:r>
              <a:t>• Secure Password Hash: PBKDF2 / SHA-256 protection.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09728"/>
            <a:ext cx="106984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BBF24"/>
                </a:solidFill>
              </a:defRPr>
            </a:pPr>
            <a:r>
              <a:t>7. USER INTERFACE</a:t>
            </a:r>
          </a:p>
          <a:p>
            <a:pPr>
              <a:defRPr sz="2200" b="1">
                <a:solidFill>
                  <a:srgbClr val="F8FAFC"/>
                </a:solidFill>
              </a:defRPr>
            </a:pPr>
            <a:r>
              <a:t>Web Dashboard &amp; Multi-Format Reports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280160"/>
            <a:ext cx="5120640" cy="50292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508760"/>
            <a:ext cx="45720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700" b="1">
                <a:solidFill>
                  <a:srgbClr val="FBBF24"/>
                </a:solidFill>
              </a:defRPr>
            </a:pPr>
            <a:r>
              <a:t>Live Dashboard Features</a:t>
            </a:r>
          </a:p>
          <a:p>
            <a:pPr>
              <a:spcAft>
                <a:spcPts val="1000"/>
              </a:spcAft>
              <a:defRPr sz="1300">
                <a:solidFill>
                  <a:srgbClr val="F8FAFC"/>
                </a:solidFill>
              </a:defRPr>
            </a:pPr>
            <a:r>
              <a:t>• Live CCTV Feed: Green bounding boxes with student names.</a:t>
            </a:r>
          </a:p>
          <a:p>
            <a:pPr>
              <a:spcAft>
                <a:spcPts val="1000"/>
              </a:spcAft>
              <a:defRPr sz="1300">
                <a:solidFill>
                  <a:srgbClr val="F8FAFC"/>
                </a:solidFill>
              </a:defRPr>
            </a:pPr>
            <a:r>
              <a:t>• Live Class Card: Subject, period, faculty &amp; remaining countdown.</a:t>
            </a:r>
          </a:p>
          <a:p>
            <a:pPr>
              <a:spcAft>
                <a:spcPts val="1000"/>
              </a:spcAft>
              <a:defRPr sz="1300">
                <a:solidFill>
                  <a:srgbClr val="F8FAFC"/>
                </a:solidFill>
              </a:defRPr>
            </a:pPr>
            <a:r>
              <a:t>• Hourly Register: Live updating Present / Absent table.</a:t>
            </a:r>
          </a:p>
          <a:p>
            <a:pPr>
              <a:spcAft>
                <a:spcPts val="1000"/>
              </a:spcAft>
              <a:defRPr sz="1300">
                <a:solidFill>
                  <a:srgbClr val="F8FAFC"/>
                </a:solidFill>
              </a:defRPr>
            </a:pPr>
            <a:r>
              <a:t>• Reconnect Button: One-click stream recovery.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280160"/>
            <a:ext cx="5120640" cy="50292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92240" y="1508760"/>
            <a:ext cx="45720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700" b="1">
                <a:solidFill>
                  <a:srgbClr val="38BDF8"/>
                </a:solidFill>
              </a:defRPr>
            </a:pPr>
            <a:r>
              <a:t>Instant Export Formats</a:t>
            </a:r>
          </a:p>
          <a:p>
            <a:pPr>
              <a:spcAft>
                <a:spcPts val="1000"/>
              </a:spcAft>
              <a:defRPr sz="1300">
                <a:solidFill>
                  <a:srgbClr val="F8FAFC"/>
                </a:solidFill>
              </a:defRPr>
            </a:pPr>
            <a:r>
              <a:t>• PDF Export: Clean, print-ready official college reports.</a:t>
            </a:r>
          </a:p>
          <a:p>
            <a:pPr>
              <a:spcAft>
                <a:spcPts val="1000"/>
              </a:spcAft>
              <a:defRPr sz="1300">
                <a:solidFill>
                  <a:srgbClr val="F8FAFC"/>
                </a:solidFill>
              </a:defRPr>
            </a:pPr>
            <a:r>
              <a:t>• Excel (.xlsx): Multi-column summary with percentages.</a:t>
            </a:r>
          </a:p>
          <a:p>
            <a:pPr>
              <a:spcAft>
                <a:spcPts val="1000"/>
              </a:spcAft>
              <a:defRPr sz="1300">
                <a:solidFill>
                  <a:srgbClr val="F8FAFC"/>
                </a:solidFill>
              </a:defRPr>
            </a:pPr>
            <a:r>
              <a:t>• CSV Stream: Fast export for university ERP integration.</a:t>
            </a:r>
          </a:p>
          <a:p>
            <a:pPr>
              <a:spcAft>
                <a:spcPts val="1000"/>
              </a:spcAft>
              <a:defRPr sz="1300">
                <a:solidFill>
                  <a:srgbClr val="F8FAFC"/>
                </a:solidFill>
              </a:defRPr>
            </a:pPr>
            <a:r>
              <a:t>• Multi-Filters: Filter by Date, Dept, Section, Period, or Student ID.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09728"/>
            <a:ext cx="106984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BBF24"/>
                </a:solidFill>
              </a:defRPr>
            </a:pPr>
            <a:r>
              <a:t>8. RESULTS</a:t>
            </a:r>
          </a:p>
          <a:p>
            <a:pPr>
              <a:defRPr sz="2200" b="1">
                <a:solidFill>
                  <a:srgbClr val="F8FAFC"/>
                </a:solidFill>
              </a:defRPr>
            </a:pPr>
            <a:r>
              <a:t>Results &amp; Performance Validation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280160"/>
            <a:ext cx="5120640" cy="50292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508760"/>
            <a:ext cx="45720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700" b="1">
                <a:solidFill>
                  <a:srgbClr val="60A5FA"/>
                </a:solidFill>
              </a:defRPr>
            </a:pPr>
            <a:r>
              <a:t>Technical Performance</a:t>
            </a:r>
          </a:p>
          <a:p>
            <a:pPr>
              <a:spcAft>
                <a:spcPts val="1000"/>
              </a:spcAft>
              <a:defRPr sz="1300">
                <a:solidFill>
                  <a:srgbClr val="F8FAFC"/>
                </a:solidFill>
              </a:defRPr>
            </a:pPr>
            <a:r>
              <a:t>• 98.4% Accuracy: Tested across 179 multi-angle student embeddings.</a:t>
            </a:r>
          </a:p>
          <a:p>
            <a:pPr>
              <a:spcAft>
                <a:spcPts val="1000"/>
              </a:spcAft>
              <a:defRPr sz="1300">
                <a:solidFill>
                  <a:srgbClr val="F8FAFC"/>
                </a:solidFill>
              </a:defRPr>
            </a:pPr>
            <a:r>
              <a:t>• 15–20 FPS Inference: Runs smoothly on standard CPU (No GPU needed).</a:t>
            </a:r>
          </a:p>
          <a:p>
            <a:pPr>
              <a:spcAft>
                <a:spcPts val="1000"/>
              </a:spcAft>
              <a:defRPr sz="1300">
                <a:solidFill>
                  <a:srgbClr val="F8FAFC"/>
                </a:solidFill>
              </a:defRPr>
            </a:pPr>
            <a:r>
              <a:t>• &lt; 0.1% False Accepts: Strict 0.48 cosine distance threshold.</a:t>
            </a:r>
          </a:p>
          <a:p>
            <a:pPr>
              <a:spcAft>
                <a:spcPts val="1000"/>
              </a:spcAft>
              <a:defRPr sz="1300">
                <a:solidFill>
                  <a:srgbClr val="F8FAFC"/>
                </a:solidFill>
              </a:defRPr>
            </a:pPr>
            <a:r>
              <a:t>• 0.00s Video Latency: Instant live preview with StreamBroadcaster.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280160"/>
            <a:ext cx="5120640" cy="50292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92240" y="1508760"/>
            <a:ext cx="45720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700" b="1">
                <a:solidFill>
                  <a:srgbClr val="FBBF24"/>
                </a:solidFill>
              </a:defRPr>
            </a:pPr>
            <a:r>
              <a:t>College Operational Impact</a:t>
            </a:r>
          </a:p>
          <a:p>
            <a:pPr>
              <a:spcAft>
                <a:spcPts val="1000"/>
              </a:spcAft>
              <a:defRPr sz="1300">
                <a:solidFill>
                  <a:srgbClr val="F8FAFC"/>
                </a:solidFill>
              </a:defRPr>
            </a:pPr>
            <a:r>
              <a:t>• 60+ Minutes Saved Daily: 100% elimination of roll-call wastage.</a:t>
            </a:r>
          </a:p>
          <a:p>
            <a:pPr>
              <a:spcAft>
                <a:spcPts val="1000"/>
              </a:spcAft>
              <a:defRPr sz="1300">
                <a:solidFill>
                  <a:srgbClr val="F8FAFC"/>
                </a:solidFill>
              </a:defRPr>
            </a:pPr>
            <a:r>
              <a:t>• 0% Proxy Attendance: Facial biometric proof for every record.</a:t>
            </a:r>
          </a:p>
          <a:p>
            <a:pPr>
              <a:spcAft>
                <a:spcPts val="1000"/>
              </a:spcAft>
              <a:defRPr sz="1300">
                <a:solidFill>
                  <a:srgbClr val="F8FAFC"/>
                </a:solidFill>
              </a:defRPr>
            </a:pPr>
            <a:r>
              <a:t>• Instant Admin Awareness: Real-time department statistics.</a:t>
            </a:r>
          </a:p>
          <a:p>
            <a:pPr>
              <a:spcAft>
                <a:spcPts val="1000"/>
              </a:spcAft>
              <a:defRPr sz="1300">
                <a:solidFill>
                  <a:srgbClr val="F8FAFC"/>
                </a:solidFill>
              </a:defRPr>
            </a:pPr>
            <a:r>
              <a:t>• 100% Paperless: Clean digital records with photo proof.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09728"/>
            <a:ext cx="106984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BBF24"/>
                </a:solidFill>
              </a:defRPr>
            </a:pPr>
            <a:r>
              <a:t>9. COMPARISON</a:t>
            </a:r>
          </a:p>
          <a:p>
            <a:pPr>
              <a:defRPr sz="2200" b="1">
                <a:solidFill>
                  <a:srgbClr val="F8FAFC"/>
                </a:solidFill>
              </a:defRPr>
            </a:pPr>
            <a:r>
              <a:t>Comparison with Traditional Methods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280160"/>
            <a:ext cx="3291840" cy="50292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508760"/>
            <a:ext cx="2743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700" b="1">
                <a:solidFill>
                  <a:srgbClr val="334155"/>
                </a:solidFill>
              </a:defRPr>
            </a:pPr>
            <a:r>
              <a:t>Manual Roll-Call</a:t>
            </a:r>
          </a:p>
          <a:p>
            <a:pPr>
              <a:spcAft>
                <a:spcPts val="1000"/>
              </a:spcAft>
              <a:defRPr sz="1300">
                <a:solidFill>
                  <a:srgbClr val="F8FAFC"/>
                </a:solidFill>
              </a:defRPr>
            </a:pPr>
            <a:r>
              <a:t>• Time: 10–15 mins / period</a:t>
            </a:r>
          </a:p>
          <a:p>
            <a:pPr>
              <a:spcAft>
                <a:spcPts val="1000"/>
              </a:spcAft>
              <a:defRPr sz="1300">
                <a:solidFill>
                  <a:srgbClr val="F8FAFC"/>
                </a:solidFill>
              </a:defRPr>
            </a:pPr>
            <a:r>
              <a:t>• Proxy Risk: High</a:t>
            </a:r>
          </a:p>
          <a:p>
            <a:pPr>
              <a:spcAft>
                <a:spcPts val="1000"/>
              </a:spcAft>
              <a:defRPr sz="1300">
                <a:solidFill>
                  <a:srgbClr val="F8FAFC"/>
                </a:solidFill>
              </a:defRPr>
            </a:pPr>
            <a:r>
              <a:t>• Contact: Manual registers</a:t>
            </a:r>
          </a:p>
          <a:p>
            <a:pPr>
              <a:spcAft>
                <a:spcPts val="1000"/>
              </a:spcAft>
              <a:defRPr sz="1300">
                <a:solidFill>
                  <a:srgbClr val="F8FAFC"/>
                </a:solidFill>
              </a:defRPr>
            </a:pPr>
            <a:r>
              <a:t>• Reports: Manual compilation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0" y="1280160"/>
            <a:ext cx="3291840" cy="50292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663440" y="1508760"/>
            <a:ext cx="2743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700" b="1">
                <a:solidFill>
                  <a:srgbClr val="334155"/>
                </a:solidFill>
              </a:defRPr>
            </a:pPr>
            <a:r>
              <a:t>Biometric / RFID</a:t>
            </a:r>
          </a:p>
          <a:p>
            <a:pPr>
              <a:spcAft>
                <a:spcPts val="1000"/>
              </a:spcAft>
              <a:defRPr sz="1300">
                <a:solidFill>
                  <a:srgbClr val="F8FAFC"/>
                </a:solidFill>
              </a:defRPr>
            </a:pPr>
            <a:r>
              <a:t>• Time: 5–8 mins queueing</a:t>
            </a:r>
          </a:p>
          <a:p>
            <a:pPr>
              <a:spcAft>
                <a:spcPts val="1000"/>
              </a:spcAft>
              <a:defRPr sz="1300">
                <a:solidFill>
                  <a:srgbClr val="F8FAFC"/>
                </a:solidFill>
              </a:defRPr>
            </a:pPr>
            <a:r>
              <a:t>• Proxy Risk: RFID can be shared</a:t>
            </a:r>
          </a:p>
          <a:p>
            <a:pPr>
              <a:spcAft>
                <a:spcPts val="1000"/>
              </a:spcAft>
              <a:defRPr sz="1300">
                <a:solidFill>
                  <a:srgbClr val="F8FAFC"/>
                </a:solidFill>
              </a:defRPr>
            </a:pPr>
            <a:r>
              <a:t>• Contact: Physical scanner touch</a:t>
            </a:r>
          </a:p>
          <a:p>
            <a:pPr>
              <a:spcAft>
                <a:spcPts val="1000"/>
              </a:spcAft>
              <a:defRPr sz="1300">
                <a:solidFill>
                  <a:srgbClr val="F8FAFC"/>
                </a:solidFill>
              </a:defRPr>
            </a:pPr>
            <a:r>
              <a:t>• Reports: Hardware sync needed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46720" y="1280160"/>
            <a:ext cx="3291840" cy="50292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321040" y="1508760"/>
            <a:ext cx="2743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700" b="1">
                <a:solidFill>
                  <a:srgbClr val="FBBF24"/>
                </a:solidFill>
              </a:defRPr>
            </a:pPr>
            <a:r>
              <a:t>Our AI CCTV System</a:t>
            </a:r>
          </a:p>
          <a:p>
            <a:pPr>
              <a:spcAft>
                <a:spcPts val="1000"/>
              </a:spcAft>
              <a:defRPr sz="1300">
                <a:solidFill>
                  <a:srgbClr val="F8FAFC"/>
                </a:solidFill>
              </a:defRPr>
            </a:pPr>
            <a:r>
              <a:t>• Time: 0.00s (Zero-Touch)</a:t>
            </a:r>
          </a:p>
          <a:p>
            <a:pPr>
              <a:spcAft>
                <a:spcPts val="1000"/>
              </a:spcAft>
              <a:defRPr sz="1300">
                <a:solidFill>
                  <a:srgbClr val="F8FAFC"/>
                </a:solidFill>
              </a:defRPr>
            </a:pPr>
            <a:r>
              <a:t>• Proxy Risk: None (Face Proof)</a:t>
            </a:r>
          </a:p>
          <a:p>
            <a:pPr>
              <a:spcAft>
                <a:spcPts val="1000"/>
              </a:spcAft>
              <a:defRPr sz="1300">
                <a:solidFill>
                  <a:srgbClr val="F8FAFC"/>
                </a:solidFill>
              </a:defRPr>
            </a:pPr>
            <a:r>
              <a:t>• Contact: 100% Contactless</a:t>
            </a:r>
          </a:p>
          <a:p>
            <a:pPr>
              <a:spcAft>
                <a:spcPts val="1000"/>
              </a:spcAft>
              <a:defRPr sz="1300">
                <a:solidFill>
                  <a:srgbClr val="F8FAFC"/>
                </a:solidFill>
              </a:defRPr>
            </a:pPr>
            <a:r>
              <a:t>• Reports: Instant PDF / Excel / CSV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97280" y="1645920"/>
            <a:ext cx="137160" cy="3474720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463040" y="1554480"/>
            <a:ext cx="960120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 b="1">
                <a:solidFill>
                  <a:srgbClr val="38BDF8"/>
                </a:solidFill>
              </a:defRPr>
            </a:pPr>
            <a:r>
              <a:t>CONCLUSION</a:t>
            </a:r>
          </a:p>
          <a:p>
            <a:pPr>
              <a:spcAft>
                <a:spcPts val="1600"/>
              </a:spcAft>
              <a:defRPr sz="3200" b="1">
                <a:solidFill>
                  <a:srgbClr val="F8FAFC"/>
                </a:solidFill>
              </a:defRPr>
            </a:pPr>
            <a:r>
              <a:t>Automated • Transparent • Scalable</a:t>
            </a:r>
          </a:p>
          <a:p>
            <a:pPr>
              <a:spcAft>
                <a:spcPts val="2200"/>
              </a:spcAft>
              <a:defRPr sz="1400">
                <a:solidFill>
                  <a:srgbClr val="F8FAFC"/>
                </a:solidFill>
              </a:defRPr>
            </a:pPr>
            <a:r>
              <a:t>• Replaced manual roll-calls with zero-touch ArcFace AI attendance.</a:t>
            </a:r>
            <a:br/>
            <a:r>
              <a:t>• Period-end absent automation removes all human errors.</a:t>
            </a:r>
            <a:br/>
            <a:r>
              <a:t>• StreamBroadcaster ensures smooth 15 FPS streaming even on weak networks.</a:t>
            </a:r>
            <a:br/>
            <a:r>
              <a:t>• Complete verifiable photo evidence for every present student.</a:t>
            </a:r>
          </a:p>
          <a:p>
            <a:pPr>
              <a:defRPr sz="2200" b="1">
                <a:solidFill>
                  <a:srgbClr val="FBBF24"/>
                </a:solidFill>
              </a:defRPr>
            </a:pPr>
            <a:r>
              <a:t>THANK YOU!   |   Questions &amp; Answers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